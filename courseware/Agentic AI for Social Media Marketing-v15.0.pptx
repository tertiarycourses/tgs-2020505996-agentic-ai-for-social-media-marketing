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494" r:id="rId245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target by month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Month 1</c:v>
                </c:pt>
                <c:pt idx="2">
                  <c:v>Month 2</c:v>
                </c:pt>
                <c:pt idx="3">
                  <c:v>Month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132</c:v>
                </c:pt>
                <c:pt idx="2">
                  <c:v>141</c:v>
                </c:pt>
                <c:pt idx="3">
                  <c:v>150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Persona evidence mix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Interviews</c:v>
                </c:pt>
                <c:pt idx="1">
                  <c:v>Surveys</c:v>
                </c:pt>
                <c:pt idx="2">
                  <c:v>CRM rows</c:v>
                </c:pt>
                <c:pt idx="3">
                  <c:v>Analytics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24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funnel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Unaware</c:v>
                </c:pt>
                <c:pt idx="1">
                  <c:v>Aware</c:v>
                </c:pt>
                <c:pt idx="2">
                  <c:v>Considering</c:v>
                </c:pt>
                <c:pt idx="3">
                  <c:v>Deciding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4200</c:v>
                </c:pt>
                <c:pt idx="2">
                  <c:v>1250</c:v>
                </c:pt>
                <c:pt idx="3">
                  <c:v>240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Audit disposition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Discover</c:v>
                </c:pt>
                <c:pt idx="1">
                  <c:v>Verify</c:v>
                </c:pt>
                <c:pt idx="2">
                  <c:v>Measure</c:v>
                </c:pt>
                <c:pt idx="3">
                  <c:v>Classify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opportunity scores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Paid social</c:v>
                </c:pt>
                <c:pt idx="1">
                  <c:v>Creator</c:v>
                </c:pt>
                <c:pt idx="2">
                  <c:v>Collaboration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3.8</c:v>
                </c:pt>
                <c:pt idx="2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Index /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work allocation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Create</c:v>
                </c:pt>
                <c:pt idx="2">
                  <c:v>Review</c:v>
                </c:pt>
                <c:pt idx="3">
                  <c:v>Measure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Tool-call outcomes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Review</c:v>
                </c:pt>
                <c:pt idx="2">
                  <c:v>Invalid</c:v>
                </c:pt>
                <c:pt idx="3">
                  <c:v>Escalate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14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Policy gate results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Pass</c:v>
                </c:pt>
                <c:pt idx="1">
                  <c:v>Review</c:v>
                </c:pt>
                <c:pt idx="2">
                  <c:v>Revise</c:v>
                </c:pt>
                <c:pt idx="3">
                  <c:v>Reject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17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campaign allocation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Prospect</c:v>
                </c:pt>
                <c:pt idx="1">
                  <c:v>Retarget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Creative quality rubric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Clarity</c:v>
                </c:pt>
                <c:pt idx="1">
                  <c:v>Proof</c:v>
                </c:pt>
                <c:pt idx="2">
                  <c:v>Fit</c:v>
                </c:pt>
                <c:pt idx="3">
                  <c:v>Novelty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</c:v>
                </c:pt>
                <c:pt idx="1">
                  <c:v>4.1</c:v>
                </c:pt>
                <c:pt idx="2">
                  <c:v>3.8</c:v>
                </c:pt>
                <c:pt idx="3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Index /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Brand voice review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Pass</c:v>
                </c:pt>
                <c:pt idx="1">
                  <c:v>Edit</c:v>
                </c:pt>
                <c:pt idx="2">
                  <c:v>Escalate</c:v>
                </c:pt>
                <c:pt idx="3">
                  <c:v>Reject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11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Audience match pipeline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Uploaded</c:v>
                </c:pt>
                <c:pt idx="1">
                  <c:v>Valid</c:v>
                </c:pt>
                <c:pt idx="2">
                  <c:v>Consented</c:v>
                </c:pt>
                <c:pt idx="3">
                  <c:v>Matched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9200</c:v>
                </c:pt>
                <c:pt idx="2">
                  <c:v>7100</c:v>
                </c:pt>
                <c:pt idx="3">
                  <c:v>6800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Draft funnel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Policy pass</c:v>
                </c:pt>
                <c:pt idx="2">
                  <c:v>Review</c:v>
                </c:pt>
                <c:pt idx="3">
                  <c:v>Approved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78</c:v>
                </c:pt>
                <c:pt idx="2">
                  <c:v>56</c:v>
                </c:pt>
                <c:pt idx="3">
                  <c:v>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outcomes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Approve</c:v>
                </c:pt>
                <c:pt idx="1">
                  <c:v>Edit</c:v>
                </c:pt>
                <c:pt idx="2">
                  <c:v>Reject</c:v>
                </c:pt>
                <c:pt idx="3">
                  <c:v>Escalate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24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Format completion rate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Vertical video</c:v>
                </c:pt>
                <c:pt idx="1">
                  <c:v>Carousel</c:v>
                </c:pt>
                <c:pt idx="2">
                  <c:v>Static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31</c:v>
                </c:pt>
                <c:pt idx="2">
                  <c:v>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test conversions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Variant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Event pipeline counts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Impression</c:v>
                </c:pt>
                <c:pt idx="1">
                  <c:v>Click</c:v>
                </c:pt>
                <c:pt idx="2">
                  <c:v>Action</c:v>
                </c:pt>
                <c:pt idx="3">
                  <c:v>Lead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3400</c:v>
                </c:pt>
                <c:pt idx="2">
                  <c:v>410</c:v>
                </c:pt>
                <c:pt idx="3">
                  <c:v>96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Campaign funnel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Impression</c:v>
                </c:pt>
                <c:pt idx="1">
                  <c:v>Click</c:v>
                </c:pt>
                <c:pt idx="2">
                  <c:v>Action</c:v>
                </c:pt>
                <c:pt idx="3">
                  <c:v>Lead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3400</c:v>
                </c:pt>
                <c:pt idx="2">
                  <c:v>410</c:v>
                </c:pt>
                <c:pt idx="3">
                  <c:v>96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conversion (%)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CTR</c:v>
                </c:pt>
                <c:pt idx="1">
                  <c:v>Click→Action</c:v>
                </c:pt>
                <c:pt idx="2">
                  <c:v>Action→Lead</c:v>
                </c:pt>
                <c:pt idx="3">
                  <c:v>Lead→Sale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12.1</c:v>
                </c:pt>
                <c:pt idx="2">
                  <c:v>23.4</c:v>
                </c:pt>
                <c:pt idx="3">
                  <c:v>37.5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Credited vs incremental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cat>
            <c:strRef>
              <c:f>Sheet1!$A$2:$A$3</c:f>
              <c:strCache>
                <c:ptCount val="2"/>
                <c:pt idx="0">
                  <c:v>Attributed</c:v>
                </c:pt>
                <c:pt idx="1">
                  <c:v>Incremental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96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Reporting SLA minutes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Extract</c:v>
                </c:pt>
                <c:pt idx="1">
                  <c:v>Normalize</c:v>
                </c:pt>
                <c:pt idx="2">
                  <c:v>Compute</c:v>
                </c:pt>
                <c:pt idx="3">
                  <c:v>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CPL (SGD)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Sheet1!$A$2:$A$6</c:f>
              <c:strCache>
                <c:ptCount val="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39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Singapore dollars (SGD)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Retargeting eligibility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Visitors</c:v>
                </c:pt>
                <c:pt idx="1">
                  <c:v>Valid</c:v>
                </c:pt>
                <c:pt idx="2">
                  <c:v>Consented</c:v>
                </c:pt>
                <c:pt idx="3">
                  <c:v>Eligible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820</c:v>
                </c:pt>
                <c:pt idx="2">
                  <c:v>610</c:v>
                </c:pt>
                <c:pt idx="3">
                  <c:v>540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Agent run outcomes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Approved</c:v>
                </c:pt>
                <c:pt idx="1">
                  <c:v>Revision</c:v>
                </c:pt>
                <c:pt idx="2">
                  <c:v>Invalid</c:v>
                </c:pt>
                <c:pt idx="3">
                  <c:v>Escalated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13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Optimization cycle hours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Observe</c:v>
                </c:pt>
                <c:pt idx="1">
                  <c:v>Diagnose</c:v>
                </c:pt>
                <c:pt idx="2">
                  <c:v>Approve</c:v>
                </c:pt>
                <c:pt idx="3">
                  <c:v>Measure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Hours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Variant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4.8</c:v>
                </c:pt>
                <c:pt idx="1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Marginal CPL (SGD)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Retarget</c:v>
                </c:pt>
                <c:pt idx="1">
                  <c:v>Prospect</c:v>
                </c:pt>
                <c:pt idx="2">
                  <c:v>Creator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24</c:v>
                </c:pt>
                <c:pt idx="2">
                  <c:v>31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Singapore dollars (SGD)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 by exposure</c:v>
                </c:pt>
              </c:strCache>
            </c:strRef>
          </c:tx>
          <c:spPr>
            <a:ln w="31750">
              <a:solidFill>
                <a:srgbClr val="F59E0B"/>
              </a:solidFill>
            </a:ln>
          </c:spPr>
          <c:cat>
            <c:strRef>
              <c:f>Sheet1!$A$2:$A$6</c:f>
              <c:strCache>
                <c:ptCount val="5"/>
                <c:pt idx="0">
                  <c:v>1st</c:v>
                </c:pt>
                <c:pt idx="1">
                  <c:v>2nd</c:v>
                </c:pt>
                <c:pt idx="2">
                  <c:v>3rd</c:v>
                </c:pt>
                <c:pt idx="3">
                  <c:v>4th</c:v>
                </c:pt>
                <c:pt idx="4">
                  <c:v>5th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3.1</c:v>
                </c:pt>
                <c:pt idx="2">
                  <c:v>2.7</c:v>
                </c:pt>
                <c:pt idx="3">
                  <c:v>2.1</c:v>
                </c:pt>
                <c:pt idx="4">
                  <c:v>1.8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Overlap by audience pair (%)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A/B</c:v>
                </c:pt>
                <c:pt idx="1">
                  <c:v>A/C</c:v>
                </c:pt>
                <c:pt idx="2">
                  <c:v>B/C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38</c:v>
                </c:pt>
                <c:pt idx="2">
                  <c:v>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Weekly content mix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Education</c:v>
                </c:pt>
                <c:pt idx="1">
                  <c:v>Proof</c:v>
                </c:pt>
                <c:pt idx="2">
                  <c:v>Community</c:v>
                </c:pt>
                <c:pt idx="3">
                  <c:v>Promotion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feasibility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Facebook</c:v>
                </c:pt>
                <c:pt idx="1">
                  <c:v>Instagram</c:v>
                </c:pt>
                <c:pt idx="2">
                  <c:v>LinkedIn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3.9</c:v>
                </c:pt>
                <c:pt idx="2">
                  <c:v>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Index /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thresholds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Spend</c:v>
                </c:pt>
                <c:pt idx="1">
                  <c:v>CPL</c:v>
                </c:pt>
                <c:pt idx="2">
                  <c:v>Shift %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30</c:v>
                </c:pt>
                <c:pt idx="2">
                  <c:v>15</c:v>
                </c:pt>
                <c:pt idx="3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Index /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Message routing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Routine</c:v>
                </c:pt>
                <c:pt idx="1">
                  <c:v>Assisted</c:v>
                </c:pt>
                <c:pt idx="2">
                  <c:v>Escalated</c:v>
                </c:pt>
                <c:pt idx="3">
                  <c:v>Rejected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24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 sample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34</c:v>
                </c:pt>
                <c:pt idx="2">
                  <c:v>20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Moderation decisions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Allow</c:v>
                </c:pt>
                <c:pt idx="1">
                  <c:v>Assist</c:v>
                </c:pt>
                <c:pt idx="2">
                  <c:v>Review</c:v>
                </c:pt>
                <c:pt idx="3">
                  <c:v>Escalate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16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UGC rights status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Approved</c:v>
                </c:pt>
                <c:pt idx="1">
                  <c:v>Pending</c:v>
                </c:pt>
                <c:pt idx="2">
                  <c:v>Declined</c:v>
                </c:pt>
                <c:pt idx="3">
                  <c:v>Expired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 per 15 minutes</c:v>
                </c:pt>
              </c:strCache>
            </c:strRef>
          </c:tx>
          <c:spPr>
            <a:ln w="31750">
              <a:solidFill>
                <a:srgbClr val="16845B"/>
              </a:solidFill>
            </a:ln>
          </c:spPr>
          <c:cat>
            <c:strRef>
              <c:f>Sheet1!$A$2:$A$5</c:f>
              <c:strCache>
                <c:ptCount val="4"/>
                <c:pt idx="0">
                  <c:v>T-45</c:v>
                </c:pt>
                <c:pt idx="1">
                  <c:v>T-30</c:v>
                </c:pt>
                <c:pt idx="2">
                  <c:v>T-15</c:v>
                </c:pt>
                <c:pt idx="3">
                  <c:v>Now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31</c:v>
                </c:pt>
                <c:pt idx="3">
                  <c:v>84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Advocacy outcomes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Contributors</c:v>
                </c:pt>
                <c:pt idx="1">
                  <c:v>Recognized</c:v>
                </c:pt>
                <c:pt idx="2">
                  <c:v>Repeat</c:v>
                </c:pt>
                <c:pt idx="3">
                  <c:v>Referral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46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scorecard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Revenue k</c:v>
                </c:pt>
                <c:pt idx="1">
                  <c:v>Cost k</c:v>
                </c:pt>
                <c:pt idx="2">
                  <c:v>CSAT lift</c:v>
                </c:pt>
                <c:pt idx="3">
                  <c:v>Complaint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7.2</c:v>
                </c:pt>
                <c:pt idx="2">
                  <c:v>4.6</c:v>
                </c:pt>
                <c:pt idx="3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Index /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evidence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6845B"/>
              </a:solidFill>
            </c:spPr>
          </c:dPt>
          <c:cat>
            <c:strRef>
              <c:f>Sheet1!$A$2:$A$5</c:f>
              <c:strCache>
                <c:ptCount val="4"/>
                <c:pt idx="0">
                  <c:v>Register</c:v>
                </c:pt>
                <c:pt idx="1">
                  <c:v>Assess</c:v>
                </c:pt>
                <c:pt idx="2">
                  <c:v>Test</c:v>
                </c:pt>
                <c:pt idx="3">
                  <c:v>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86</c:v>
                </c:pt>
                <c:pt idx="3">
                  <c:v>78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5996-Agentic-AI-for-Social-Media-Market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gentic-market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27818"/>
            <a:ext cx="6400800" cy="360236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50292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600200"/>
            <a:ext cx="516636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303520" cy="1508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AI for Social Media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16636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TGS-2020505996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87952"/>
            <a:ext cx="51663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5F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5F"/>
                </a:solidFill>
                <a:latin typeface="Arial"/>
              </a:rPr>
              <a:t>Trainer: Dr Alfred 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38928"/>
            <a:ext cx="2286000" cy="438912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138928"/>
            <a:ext cx="228600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VERSION v15.0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15000"/>
            <a:ext cx="51663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4505F"/>
                </a:solidFill>
                <a:latin typeface="Arial"/>
              </a:rPr>
              <a:t>11 September 2026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Plan · Create · Measure · Optimize ·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530352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Complete through the SSG digital attendance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Complete again after lunch as directed.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 separate assessment attendance is mandatory.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the LMS-displayed QR flow and keep confirmation.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Attendance must reach at least 75% and all assessment attendance requirements must be completed.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4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4505F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657600" cy="443484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3352" y="2048256"/>
            <a:ext cx="1554480" cy="1554480"/>
          </a:xfrm>
          <a:prstGeom prst="ellipse">
            <a:avLst/>
          </a:prstGeom>
          <a:solidFill>
            <a:srgbClr val="4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73352" y="2048256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3154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05F"/>
                </a:solidFill>
                <a:latin typeface="Arial"/>
              </a:rPr>
              <a:t>Complete before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00784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700784"/>
            <a:ext cx="82296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773936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73936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414016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414016"/>
            <a:ext cx="82296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2487168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487168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127248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3127248"/>
            <a:ext cx="82296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20040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200400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840480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3840480"/>
            <a:ext cx="82296" cy="594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13632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913632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4553712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4553712"/>
            <a:ext cx="82296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4626864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TRAINING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626864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5266944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5266944"/>
            <a:ext cx="82296" cy="594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5340096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340096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3657600" cy="443484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3352" y="2048256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73352" y="2048256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3154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05F"/>
                </a:solidFill>
                <a:latin typeface="Arial"/>
              </a:rPr>
              <a:t>AI, data and digital transformation trainer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00784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700784"/>
            <a:ext cx="82296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773936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73936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Lead Trainer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414016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414016"/>
            <a:ext cx="82296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2487168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487168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ACTA / DACE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127248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7720" y="3127248"/>
            <a:ext cx="82296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200400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200400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WSQ AI &amp; digital courses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840480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3840480"/>
            <a:ext cx="82296" cy="594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913632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SPECIALISM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913632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Agentic AI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4553712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4553712"/>
            <a:ext cx="82296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4626864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626864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Tertiary Infotech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5266944"/>
            <a:ext cx="68762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5266944"/>
            <a:ext cx="82296" cy="594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5340096"/>
            <a:ext cx="19202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340096"/>
            <a:ext cx="448056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How would you like to be addressed?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What social marketing decisions do you own?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What outcome are you currently pursuing?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Where would you require human approval?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WORKING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Test ideas with the supplied mock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Never paste client or personal data into tools.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Challenge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Treat agent proposals as hypotheses.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Critique the artifact, not the person.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question is too small.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Show the row, formula or rule.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Keep shared work readable and inclusive.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WSQ · COMPETENCY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and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Social Media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HAS-OTO-4007-1.1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A1–A6 are evidenced through the ten labs.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K1–K10 are taught and tested by open-ended questions.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WA 60 min + PP 60 min, open book.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16 HOURS · 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1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Plan: KPI tree, persona evidence and policy.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1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Create: briefs, campaigns and approval gates.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2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Measure: events, metrics and anomaly triage.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Day 2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Optimize, govern communities, then assess.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Final assessment: 4:00–5:00 PM WA · 5:00–6:00 PM PP on Day 2.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LO1–LO6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Develop a plan for a Facebook social media marketing campaign.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Evaluate social market opportunities for a Facebook campaign.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Monitor Facebook social media marketing performance.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Determine campaign feasibility by optimizing Facebook advertisements.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Evaluate campaign usage and its impact on the organisation.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Establish measurable social media marketing objectives.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the slides, Learner Guide and approved lab materials.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Complete your own submission.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the supplied mock data and cite artifacts.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Upload completed answers on the LMS.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Complete assessment digital attendance.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Review and sign the Assessment Summary Record.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Follow the documented appeal route if required.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Do not photograph or share assessment scripts.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WA + PP · 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10 open-ended SAQs · K1–K10 · 60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5 applied tasks · A1–A6 · 60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All prescribed assessments must be completed.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At least 75% attendance; eligibility and terms apply.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ASSESSMENT ·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Scan LMS QR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Submit record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Open book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Upload answers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Confirm outcome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Question papers go to learners; answer keys remain trainer-only.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git clone https://github.com/tertiarycourses/TGS-2020505996-Agentic-AI-for-Social-Media-Marketing.git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Download ZIP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GitHub → Code → Download 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a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Each folder contains its own mock data and expected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Stay safe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live credentials or client data are required.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  <a:hlinkClick r:id="rId2"/>
              </a:rPr>
              <a:t>https://github.com/tertiarycourses/TGS-2020505996-Agentic-AI-for-Social-Media-Marketing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ARCHITECTURE · QUICKBOOK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Agentic Marketing System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</a:t>
            </a:r>
          </a:p>
        </p:txBody>
      </p:sp>
      <p:pic>
        <p:nvPicPr>
          <p:cNvPr id="10" name="Picture 9" descr="agentic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38128"/>
            <a:ext cx="6583680" cy="3705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52360" y="1709928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70992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62672" y="186537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865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19656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Orchestrate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1671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 coordinator assigns bounded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788920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788920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94436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898648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2461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 evidence feeds every draft.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867912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867912"/>
            <a:ext cx="82296" cy="932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62672" y="40233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40233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977640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432511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Humans control publication and high-risk actions.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4946904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4946904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62672" y="510235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51023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5056632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845B"/>
                </a:solidFill>
                <a:latin typeface="Arial"/>
              </a:rPr>
              <a:t>Observe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540410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Metrics and traces support recovery.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4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4505F"/>
                </a:solidFill>
                <a:latin typeface="Arial"/>
              </a:rPr>
              <a:t>PROVENANCE ·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Evidence and Source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Legacy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All five assessed Facebook topic blocks retained.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Agent-Powered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Agent architecture, deployment and scaling concepts paraphrased.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AI in 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Applications, consumer insight and ethics concepts paraphrased.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Current 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Course page, Meta for Business and Singapore PDPC guidance checked.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Teaching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Charts use clearly labeled mock or illustrative figures.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Product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fabricated live UI screenshots or credentials.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matching course practice exam was found.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As-of 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11 September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 · A1 · K1 · K2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88696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Plan an Agentic Social Media 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5F"/>
                </a:solidFill>
                <a:latin typeface="Arial"/>
              </a:rPr>
              <a:t>Legacy coverage retained: Plan a Facebook Social Media Marketing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40"/>
            <a:ext cx="1463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66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Isolated Tools to an Agentic Operating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</a:t>
            </a:r>
          </a:p>
        </p:txBody>
      </p:sp>
      <p:pic>
        <p:nvPicPr>
          <p:cNvPr id="10" name="Picture 9" descr="agentic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38128"/>
            <a:ext cx="6583680" cy="3705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52360" y="1709928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70992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62672" y="186537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865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19656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1671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Shared campaign objects carry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788920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788920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94436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898648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2461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Agents call only approved capabilities.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867912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867912"/>
            <a:ext cx="82296" cy="932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62672" y="40233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40233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977640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432511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gates protect consequential actions.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4946904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4946904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62672" y="510235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51023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5056632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540410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Every decision keeps a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MODEL · K1/A6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Business Goals into a KPI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Revenue or qualified leads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Marketing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SMART 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Leading 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CTR and engagement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Lagging signals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CVR and ROAS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Scale, hold, or stop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MODEL · K1/A6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Business Goals into a KPI Tree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objective_id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OBJ-01
Why it exists: Trace every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120 leads/month
Why it exists: Starting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+25% in 90 days
Why it exists: Measurable delta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guardrail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CPL &lt;= SGD 24
Why it exists: Economic bound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MODEL · K1/A6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Translate Business Goals into a KPI Tree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Vanity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Likes rise but leads do not
Control: Use KPI 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Target cannot be evaluated
Control: Record source period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goal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Optimizes clicks only
Control: Lock objective hierarchy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Overclaim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Causal language without test
Control: Label inference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MODEL · K1/A6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Business Goals into a KPI Tree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The 90-day target requires a 25% lift from the 120-lead baseline.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EVIDENCE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a Persona as Evidence, Not Fiction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Interview and CRM 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Separate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Facts from hypotheses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Needs, barriers, triggers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Confidence and freshness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validates claims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EVIDENCE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a Persona as Evidence, Not Fiction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persona_id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P-SG-01
Why it exists: Stable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12 interviews
Why it exists: Provenance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Lower energy bills
Why it exists: Message input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0.78
Why it exists: Review priority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EVIDENCE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Encode a Persona as Evidence, Not Fiction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Stereotype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Trait lacks evidence
Control: Remove or qualify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PII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Names in prompt
Control: Aggregate and redact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Stale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Data older than 12 months
Control: Refresh study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False certainty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confidence score
Control: Mark hypothesis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EVIDENCE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Encode a Persona as Evidence, Not Fiction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Use multiple evidence sources; no single source is a complete persona.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MODEL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the Buyer Journey as Observable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recognised need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Problem named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Considering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Options compared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Risk and proof checked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Onboard and advocate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MODEL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the Buyer Journey as Observable States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journey_state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considering
Why it exists: Current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comparison guide
Why it exists: Transition cue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pricing-page visit
Why it exists: Observable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next_best_action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case study
Why it exists: Agent proposal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MODEL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Model the Buyer Journey as Observable States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Skipped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Hard sell to unaware user
Control: Use education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Weak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One click treated as intent
Control: Require corroboration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Dark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Artificial urgency
Control: Ethics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State 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Never re-evaluated
Control: Time-decay signals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MODEL · K1/A1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Model the Buyer Journey as Observable States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Stage conversion reveals where the agent should intervene, not just final sales.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ARTIFACT · K1/K2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Social Media Audit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Pages, groups, ad accounts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Owner and access role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90-day baseline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Keep, fix, retire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Named accountable owner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ARTIFACT · K1/K2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Social Media Audit Inventory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page_0042
Why it exists: Unique asset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Marketing Ops
Why it exists: 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editor
Why it exists: Least privilege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fix
Why it exists: Action queue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ARTIFACT · K1/K2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Social Media Audit Inventory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Orphaned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owner
Control: Suspend publishing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Excess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Shared admin account
Control: Role-based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comparable window
Control: Export 90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Duplicate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Confused audience
Control: Consolidate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ARTIFACT · K1/K2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Social Media Audit Inventory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Most assets can be retained; fixes and retirement need accountable owners.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FORMULA · A2/A4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Score Marketing Opportunities Transparently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Reach, fit, cost, 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Weights total 100%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a 1-5 rubric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Sensitivity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Vary uncertain weights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Record rationale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FORMULA · A2/A4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Score Marketing Opportunities Transparently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 × 25%
Why it exists: Audience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brand_fit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5 × 30%
Why it exists: Message alignment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 × 25%
Why it exists: Budget feasibility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 × 20%
Why it exists: Control burden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FORMULA · A2/A4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Score Marketing Opportunities Transparently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Hidden weighting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Recommendation cannot be audited
Control: Publish rubric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Double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Reach and impressions overlap
Control: Separate constructs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Favors familiar channels
Control: Blind channel names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Single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Masks uncertainty
Control: Show sensitivity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FORMULA · A2/A4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Score Marketing Opportunities Transparently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Influencer, paid social, and brand collaboration can be compared with the same rubric.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 · K3/A1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the Marketing 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Brief, assets, metrics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Tasks and constraints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Call approved tools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Policy and quality gates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Store approved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 · K3/A1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 the Marketing Agent Architecture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OBJ-01
Why it exists: Mission boundary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tool_allowlist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draft, score
Why it exists: Permitted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approval_gate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before_publish
Why it exists: Human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run-2026-0911
Why it exists: Audit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ARCH · K3/A1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Design the Marketing Agent Architecture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Over-autonomy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Agent can publish
Control: Remove publish permission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Content alters instructions
Control: Separate data/instructions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Memory poisoning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Unreviewed feedback persists
Control: Approved writes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Silent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trace
Control: Structured run 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ARCH · K3/A1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 the Marketing Agent Architecture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Planning, creation, review, and measurement remain explicit stages.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CONFIG · K2/K3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a Tool Contract the Agent Can Obey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Verb plus business object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Input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Required typed fields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Precondition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Access and consent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Output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Result and evidence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Error route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Retry or escalate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CONFIG · K2/K3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Write a Tool Contract the Agent Can Obey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draft_post
Why it exists: Clear capability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facebook
Why it exists: Enumerated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max_claims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
Why it exists: Bounded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needs_review
Why it exists: Safe default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CONFIG · K2/K3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a Tool Contract the Agent Can Obey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Vague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Unexpected action
Control: Narrow verb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Free-text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Unvalidated data
Control: Schema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idempotency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Duplicate posts
Control: request_id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error 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Infinite retry
Control: Typed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CONFIG · K2/K3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Write a Tool Contract the Agent Can Obey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Success, review, validation error, and escalation should be measurable.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CONTROL · K2/K4/K5/K6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Policy Boundaries Before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Public, internal, restricted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Allowed data and claims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Approval thresholds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Input, output, reviewer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Evidence by policy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CONTROL · K2/K4/K5/K6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Policy Boundaries Before Automation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data_class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internal
Why it exists: Handling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claim_source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approved catalog
Why it exists: Grounding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reviewer_role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campaign_owner
Why it exists: 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retention_days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180
Why it exists: Lifecycle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01 · CONTROL · K2/K4/K5/K6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Policy Boundaries Before Automation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Personal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Uploaded without consent
Control: Redact/aggregate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IP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Unlicensed creative
Control: Rights register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Misleading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Unsupported superlative
Control: Evidence requirement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Platform breach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Automation violates terms
Control: Approved interface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CONTROL · K2/K4/K5/K6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Policy Boundaries Before Automation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Most drafts pass; review, revision, and rejection remain visible outcomes.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1: Build an Agent-Ready Campaign Charter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Lumina Living will launch an energy-saving home kit in Singapore with a 90-day lead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campaign_charter.json and KPI decision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LO1 · LO6 · A1 · A6 · K1 · K2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text editor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labs/lab-01-campaign-charter/README.md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Inspect the baseline and separate business outcomes from channel metrics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Write one SMART objective with baseline, target, deadline and owner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a KPI tree linking leading indicators to the final outcome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Translate policy constraints into machine-checkable guardrails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Save the charter as valid JSON using the provided schema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1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Paid 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Creator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Brand collaboration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
Why it exists: Mock artifact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1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Objective includes baseline 120 leads and a 90-day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CPL guardrail is explicit and numerically testable.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Publishing permission defaults to human approval.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personal data is included in the charter.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the objective is vague, add a metric, baseline, target and deadline.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2: Create an Evidence-Based Persona and Journey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Lumina Living needs a defensible persona and buyer journey for its energy-saving kit.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persona.json, journey.csv and opportunity_score.csv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LO1 · LO2 · A1 · A2 · K1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JSON editor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labs/lab-02-persona-journey-agent/README.md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2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Tag each note as evidence or hypothesis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Aggregate needs and barriers without retaining names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a persona record with provenance and confidence fields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Map observable signals to journey states and next-best content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Score three opportunities with a weighted rubric totaling 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2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guide download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considering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pricing visit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demo request
Why it exists: Mock artifact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2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Every persona claim points to at least one mock evidence row.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invented demographic is presented as 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Journey states use observable signals.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Opportunity weights total 100%.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a claim has no source, mark it as a hypothesis.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diagnostic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Artifact and 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or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Failure hypothesis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Bounded response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A recommendation without evidence and a recovery route is incomplete.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evidence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Components and ownership are named.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transitions and decisions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Fields, formulas or thresholds are exact.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Signals, controls and recovery are defined.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 is observable.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bridge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practical artifact uses the same model.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oversight matches risk.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A1 · K1 · K2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02 · A2 · K3 · K4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88696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Create Campaigns with Governed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5F"/>
                </a:solidFill>
                <a:latin typeface="Arial"/>
              </a:rPr>
              <a:t>Legacy coverage retained: Create a Facebook Social Media Marketing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40"/>
            <a:ext cx="1463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66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ARCH · K8/A1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Represent Campaign, Ad Set, and 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Objective and buying type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Audience, budget, schedule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Creative and destination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Auction and placement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Event and 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ARCH · K8/A1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Represent Campaign, Ad Set, and Ad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campaign.objective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LEADS
Why it exists: Optimization goal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adset.budget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50/day
Why it exists: Spend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ad.format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vertical_video
Why it exists: Creative contract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lead_submitted
Why it exists: Outcome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ARCH · K8/A1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Represent Campaign, Ad Set, and Ad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Wrong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Budget set on ad
Control: Respect hierarchy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Objective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Clicks for lead goal
Control: Optimize for outcome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destination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Broken journey
Control: Preflight URL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Naming drift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traceability
Control: Naming convention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ARCH · K8/A1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Represent Campaign, Ad Set, and Ad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Prospecting, retargeting, and experimentation budgets should be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SCHEMA · K1/K3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Turn a Creative Brief into Structured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Persona and journey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One value proposition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Single CTA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Brand, legal, format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SCHEMA · K1/K3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a Creative Brief into Structured Inputs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P-SG-01
Why it exists: Persona link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proof_id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CASE-014
Why it exists: Source trace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Book a demo
Why it exists: Outcome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aspect_ratio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9:16
Why it exists: Placement fit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SCHEMA · K1/K3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Turn a Creative Brief into Structured Inputs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Brief stuffing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Too many messages
Control: One promise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Hallucinated claim
Control: Required source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Tone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Brand mismatch
Control: Voice rubric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mismatch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Crop hides CTA
Control: Safe-zone check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SCHEMA · K1/K3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Turn a Creative Brief into Structured Inputs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Message clarity and proof should outrank novelty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CONFIG · K2/K6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Brand Voice as Testable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 examples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Tone dimensions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Specify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Do and avoid rules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Score representative drafts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Version the rubric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CONFIG · K2/K6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Encode Brand Voice as Testable Rules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warmth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4/5
Why it exists: Desired tone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3/5
Why it exists: Register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banned_phrase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guaranteed
Why it exists: Claims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reading_level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Grade 8
Why it exists: Accessibility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CONFIG · K2/K6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Brand Voice as Testable Rules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Style mimicry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Copies competitor
Control: Use own examples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Ambiguous 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Reviewer disagreement
Control: Anchored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Overconstraint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Robotic copy
Control: Prioritize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Unversioned rubric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Inconsistent runs
Control: voice_version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CONFIG · K2/K6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Brand Voice as Testable Rules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 measurable rubric separates pass, edit, escalate, and reject outcomes.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CONTROL · K5/A2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Audiences with Purpose Limitation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intended use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Minimize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necessary fields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Hash or aggregate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approved audience feature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Remove when purpose ends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CONTROL · K5/A2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Audiences with Purpose Limitation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campaign retargeting
Why it exists: Notification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email_hash
Why it exists: Minimized identifier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marketing_opt_in
Why it exists: Legal basis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2026-12-31
Why it exists: Retention limit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CONTROL · K5/A2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Audiences with Purpose Limitation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Purpose creep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List reused
Control: Purpose-bound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identifier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Plain email exported
Control: Hash before transfer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withdrawal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Opt-out ignored
Control: Suppression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Sensitive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Proxy discrimination
Control: Feature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CONTROL · K5/A2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Audiences with Purpose Limitation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Validation and consent filters reduce the usable audience before matching.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RUNTIME · K3/K6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Content Through a Review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Brief and approved facts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Channel-specific variants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Critique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Brand and policy rubric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Address flagged defects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signs release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RUNTIME · K3/K6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Content Through a Review Pipeline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brief_id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BR-027
Why it exists: Input trace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variant_count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
Why it exists: Bounded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policy_score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0.94
Why it exists: Automated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release_status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approved
Why it exists: Human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RUNTIME · K3/K6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Generate Content Through a Review Pipeline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Ungrounded 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source ID
Control: Reject claim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Self-approval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Same agent scores itself
Control: Independent checker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UGC alters task
Control: Quote as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Variant collapse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Near duplicates
Control: Similarity 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RUNTIME · K3/K6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Content Through a Review Pipeline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Only approved variants move from draft to policy pass, human review, and release.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HITL · K2/K4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Place a Human Approval Gate Before Publish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Checks complete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Reviewer by risk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Claim, creative, targeting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Approve, edit, reject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Only approved artifact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HITL · K2/K4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Place a Human Approval Gate Before Publish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risk_tier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medium
Why it exists: Routing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review_sla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 hours
Why it exists: Operational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approve_with_edit
Why it exists: Outcome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reviewer_id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role:brand_owner
Why it exists: Accountability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HITL · K2/K4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Place a Human Approval Gate Before Publish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Rubber 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Very low review time
Control: Sample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Reviewer unavailable
Control: Backup 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Post-review mutation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Published copy differs
Control: Content hash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Hidden rejection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rationale
Control: Reason code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HITL · K2/K4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Place a Human Approval Gate Before Publish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Edits and rejections are useful control signals, not workflow failures.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Placement and Format with a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Define desired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Feed, stories, reels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Asset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Ratio, duration, safe zone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Delivery 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Automatic or manual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Holdout or split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Choose Placement and Format with a Matrix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reels
Why it exists: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9:16
Why it exists: Creative 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safe_zone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pass
Why it exists: Message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lead
Why it exists: Delivery goal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Choose Placement and Format with a Matrix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One-size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CTA cropped
Control: Placement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Manual overfit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Delivery constrained
Control: Test automation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 mismatch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Views treated as leads
Control: Outcome KPI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Cannot attribute lift
Control: Experiment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Choose Placement and Format with a Matrix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89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Short vertical video, carousel, and static image should be evaluated on comparable outcomes.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FORMULA · K7/A2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Clean Campaign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One expected causal effect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Variable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Change one factor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Keep other settings constant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Sufficient duration/sample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Predefined threshold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FORMULA · K7/A2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Clean Campaign Experiment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video improves CVR
Why it exists: Testable claim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primary_metric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conversion_rate
Why it exists: Decision metric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minimum_lift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10%
Why it exists: Practical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stop_rule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&gt;= 500 clicks/cell
Why it exists: Stability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02 · FORMULA · K7/A2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 a Clean Campaign Experiment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Peeking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Stop on early winner
Control: Fixed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Multiple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Causality unclear
Control: One variable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Unequal 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Biased cells
Control: Random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Novelty effect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Short run
Control: Adequate duration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FORMULA · K7/A2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Clean Campaign Experiment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Variant B shows lift, but the sample and decision threshold determine action.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3: Build a Brand-Safe Content Brief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channel-ready briefs for Lumina Living while preventing unsupported claims and brand drift.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content_briefs.jsonl and review_rubric.csv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LO2 · A2 · K2 · K3 · K4 · K6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Text editor · spreadsheet editor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labs/lab-03-content-brief-agent/README.md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3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Select one persona and journey state from Lab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Write a structured brief with audience, promise, proof, CTA and constraints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three variants without changing the approved fact set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Score each variant against brand voice and policy rubrics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Route low-confidence or unsupported drafts to human review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3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FACT-01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FACT-02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FACT-03
Why it exists: Mock artifact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3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Each numeric claim carries an approved fact_id.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Rejected FACT-03 is absent.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Each brief has one CTA and a defined format.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Final status is needs_review until a human decision is recorded.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all variants sound alike, vary angle or format—not factual claims.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4: Assemble a Governed Campaign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Translate approved content briefs into a campaign/ad-set/ad package without publishing to a live account.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campaign_package.json and approval_log.csv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LO1 · LO2 · A1 · A2 · K3 · K4 · K8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JSON editor · spreadsheet editor · mock Ads Manager worksheet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labs/lab-04-campaign-builder/README.md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4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a campaign object with one outcome objective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ad sets with audience, budget, schedule and suppression fields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Attach only approved creative with valid usage rights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Add a preflight checklist for destination, tracking and naming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Record a human approval decision with reason and reviewer role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4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AUD-01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AUD-02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AUD-03
Why it exists: Mock artifact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4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Campaign, ad set and ad fields are at the correct hierarchy.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Daily budget stays within SGD 250.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Pending CR-03 is blocked.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package contains no live credential or account ID.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delivery settings conflict, trace which hierarchy owns the field.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diagnostic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Artifact and 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or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Failure hypothesis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Bounded response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A recommendation without evidence and a recovery route is incomplete.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evidence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Components and ownership are named.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transitions and decisions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Fields, formulas or thresholds are exact.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Signals, controls and recovery are defined.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 is observable.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bridge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practical artifact uses the same model.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oversight matches risk.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A2 · K3 · K4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TOPIC 03 · A3 · K5 · K6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88696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Measure Performance and Agent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5F"/>
                </a:solidFill>
                <a:latin typeface="Arial"/>
              </a:rPr>
              <a:t>Legacy coverage retained: Measure Facebook Social Media Marketing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40"/>
            <a:ext cx="1463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66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ARCH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the Measurement Event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Ad served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Destination opened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Landing experience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Lead or purchase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Platform and CRM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ARCH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the Measurement Event Pipeline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lead_submitted
Why it exists: Stable taxonomy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event_time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ISO-8601
Why it exists: Sequence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CMP-26-04
Why it exists: Join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120.00 SGD
Why it exists: Outcome 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ARCH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Map the Measurement Event Pipeline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Duplicate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Inflated conversions
Control: event_id dedupe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Illegal collection
Control: Consent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Clock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Wrong attribution
Control: UTC timestamps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Join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campaign ID
Control: Required 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ARCH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the Measurement Event Pipeline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Loss between stages is expected; unexplained discontinuities are instrumentation defects.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Calculate Reach, CTR, CVR, CPL and ROAS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Unique people exposed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Clicks / impressions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CVR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Conversions / clicks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CPL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Spend / leads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Revenue / ad spend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Reach, CTR, CVR, CPL and ROAS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impressions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50,000
Why it exists: CTR denominator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3,400
Why it exists: CTR = 6.8%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96
Why it exists: CVR = 2.82%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2,400
Why it exists: CPL = SGD 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Reach, CTR, CVR, CPL and ROAS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Mixed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Spend and leads differ
Control: Same date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Wrong denominator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CVR uses impressions
Control: Metric dictionary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Gross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ROAS overstates margin
Control: Add contribution margin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Tiny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Volatile rate
Control: Show 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Calculate Reach, CTR, CVR, CPL and ROAS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Rates are meaningful only when their underlying counts and windows are visible.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MODEL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Funnel with Diagnostic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Impressions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Clicks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Landing actions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Form submitted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Qualified or sold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MODEL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Funnel with Diagnostic Rates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lead
Why it exists: Named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96
Why it exists: Observed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rate_from_prior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23.4%
Why it exists: Local conversion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drop_reason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form friction
Why it exists: Diagnosis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MODEL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Funnel with Diagnostic Rates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Double 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Repeated events
Control: Unique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Unknown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reason codes
Control: Instrument exits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ignored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Cheap low-value leads
Control: Qualification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Lag ignored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Recent leads not matured
Control: Cohort window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MODEL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Funnel with Diagnostic Rates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 low early-stage rate and a strong late-stage rate imply a targeting or creative issue.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CASE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Attribution from Incrementality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Observed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Platform reports credit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Attribution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Assign touchpoint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Counterfactual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Estimate without exposure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Experiment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Holdout or lift 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incremental 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CASE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Separate Attribution from Incrementality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7-day click
Why it exists: Attribution 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credited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120
Why it exists: Reported conversions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holdout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24
Why it exists: Baseline conversions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incremental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96
Why it exists: Estimated lift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CASE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Separate Attribution from Incrementality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Last-click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Upper funnel erased
Control: Compare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View-through inflation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Passive exposure credited
Control: Separate view/click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counterfactual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Correlation claimed causal
Control: Holdout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Cross-device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Identity incomplete
Control: State limitation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CASE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Separate Attribution from Incrementality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Attributed conversions can exceed estimated incremental conversions.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SCHEMA · K8/A3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Reporting Schema for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Named sources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Dates, currency, IDs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Versioned formulas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Evidence-linked narrative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Dashboard and decision log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SCHEMA · K8/A3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Reporting Schema for Agents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report_date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2026-09-11
Why it exists: As-of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
Why it exists: Comparable spend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formula_version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metrics-v2
Why it exists: Reproducibility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source_rows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campaign.csv:48
Why it exists: Lineage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SCHEMA · K8/A3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 a Reporting Schema for Agents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Silent 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Numbers change
Control: Snapshot timestamp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Schema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Column renamed
Control: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Rounding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Totals disagree
Control: Compute then 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Narrative hallucination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Claim lacks row
Control: Evidence citation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SCHEMA · K8/A3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 a Reporting Schema for Agents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Automation can reduce preparation time while review and sign-off remain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Anomalies with Thresholds and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Rolling median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Expected range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crosses threshold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Budget, launch, outage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Owner and next check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Anomalies with Thresholds and Context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CPL
Why it exists: 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22
Why it exists: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&gt; SGD 30
Why it exists: Trigger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high
Why it exists: Routing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Detect Anomalies with Thresholds and Context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Seasonality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Normal spike flagged
Control: Comparable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Alert flood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Every metric triggers
Control: Priority tiers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Auto-pause harm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False positive stops winner
Control: Human approval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Budget change ignored
Control: Event annotations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FORMULA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Detect Anomalies with Thresholds and Context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The final-day spike breaches the SGD 30 decision threshold and needs diagnosis.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CONTROL · K5/A3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Retargeting with Consent and Suppression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Consent and 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Journey behavior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Converters and opt-outs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Sequence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Message by recency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Membership timeout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CONTROL · K5/A3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Build Retargeting with Consent and Suppression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cart_7d
Why it exists: Behavior cohort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true
Why it exists: Eligibility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purchased_30d
Why it exists: Exclusion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ttl_days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7
Why it exists: Expiry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CONTROL · K5/A3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Build Retargeting with Consent and Suppression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suppression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Customers see acquisition ad
Control: Exclude converters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Long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Stale tracking
Control: TTL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Sensitive proxy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Inferred condition
Control: Prohibited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Frequency harm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Excess exposure
Control: Cap and monitor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CONTROL · K5/A3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Build Retargeting with Consent and Suppression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Consent, suppression, and freshness filters reduce the addressable group.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EVIDENCE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Observe the Agent, Not Just the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One run identifier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Inputs and tool calls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Quality and policy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decisions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 lessons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EVIDENCE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Observe the Agent, Not Just the Campaign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run-0911-042
Why it exists: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tool_calls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6
Why it exists: Action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policy_flags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
Why it exists: Risk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final_status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approved
Why it exists: Outcome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03 · EVIDENCE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Observe the Agent, Not Just the Campaign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Cannot reproduce
Control: Mandatory run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Sensitive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PII retained
Control: Redaction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Success-only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Failures hidden
Control: All 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Unsafe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Bad output saved
Control: Reviewed memory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EVIDENCE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Observe the Agent, Not Just the Campaign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Approval, revision, validation failure, and escalation should be tracked separately.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5: Compute a Campaign Measurement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Reconcile a mock platform export and CRM outcome table, then calculate decision-ready metrics.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scorecard.csv, metric_dictionary.md and funnel_analysis.md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LO3 · A3 · K5 · K8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optional Python notebook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labs/lab-05-measurement-scorecard/README.md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5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Validate required columns, types, currency and date window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Calculate CTR, landing-action rate, CVR, CPL and ROAS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Build a funnel showing counts and stage-to-stage rates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Reconcile platform leads with CRM quality outcomes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Write an evidence-linked interpretation with limitations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5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clicks/impressions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leads/clicks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CPL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spend/leads
Why it exists: Mock artifact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5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CTR equals clicks divided by impressions.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CPL equals spend divided by leads.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ROAS is clearly labeled as revenue/ad spend.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Every narrative claim cites a computed row.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totals disagree, confirm the same campaign and date window.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6: Build a Listening and Anomaly Triage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Detect a CPL spike and rising negative feedback without allowing the agent to pause live campaigns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alerts.csv and incident_triage.md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LO3 · A3 · K8 · K10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text editor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labs/lab-06-listening-anomaly-agent/README.md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6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Calculate a rolling baseline for each signal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Apply the provided threshold rules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Join contextual events before assigning likely cause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an alert with evidence, severity and 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Propose a reversible action and rollback condition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6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2026-09-05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high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2026-09-05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high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6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2026-09-05 CPL and comment alerts fire.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budget increase is retained as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rule authorizes automatic campaign pause.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alert includes source rows and owner.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every day alerts, compare against a stable baseline and tune severity.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diagnostic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Artifact and 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or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Failure hypothesis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Bounded response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A recommendation without evidence and a recovery route is incomplete.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evidence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Components and ownership are named.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transitions and decisions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Fields, formulas or thresholds are exact.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Signals, controls and recovery are defined.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 is observable.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bridge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practical artifact uses the same model.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oversight matches risk.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A3 · K5 · K6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04 · A4 · K7 · K8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88696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Optimize Campaigns with Controlled Experiments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5F"/>
                </a:solidFill>
                <a:latin typeface="Arial"/>
              </a:rPr>
              <a:t>Legacy coverage retained: Optimize Facebook Social Media Marketing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40"/>
            <a:ext cx="1463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6600" b="1">
                <a:solidFill>
                  <a:srgbClr val="D7E0EA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RUNTIME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the Observe–Diagnose–Act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and 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Likely bottleneck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Bounded intervention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checks risk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Compare against rule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RUNTIME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the Observe–Diagnose–Act Loop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CTR -22%
Why it exists: Observed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creative fatigue
Why it exists: Diagnosis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rotate variant B
Why it exists: Intervention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CTR &lt; baseline
Why it exists: Safety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RUNTIME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the Observe–Diagnose–Act Loop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 chasing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Changes daily
Control: Minimum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Wrong 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Budget cut for tracking bug
Control: Data health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Large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100% reallocation
Control: Bounded step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Loss compounds
Control: Precommit rule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RUNTIME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the Observe–Diagnose–Act Loop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Automation shortens observation and diagnosis but approval remains deliberate.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FORMULA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Practical Significance in A/B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Current conversion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minimum 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Worth the change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sample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Stable exposure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Rate and uncertainty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Ship, extend, or stop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FORMULA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Practical Significance in A/B Decisions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baseline_cvr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4.8%
Why it exists: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variant_cvr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5.3%
Why it exists: Observed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relative_lift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10.4%
Why it exists: Effect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min_lift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10%
Why it exists: Business 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FORMULA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Practical Significance in A/B Decisions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Stat-only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Tiny useless lift
Control: Practical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Underpowered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Wide uncertainty
Control: Extend sample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Choose winner after seeing data
Control: Pre-register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 mining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False positives
Control: Limit comparisons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FORMULA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Use Practical Significance in A/B Decisions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The observed lift barely clears the business threshold; uncertainty still matters.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FORMULA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Reallocate Budget with Marginal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Spend and incremental 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Marginal CPL/ROAS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Next-dollar efficiency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Small capped amount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Delivery response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FORMULA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Reallocate Budget with Marginal Return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retargeting
Why it exists: Budget pool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marginal_cpl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18
Why it exists: Next-dollar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max_shift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15%
Why it exists: Change bound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review_after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48 hours
Why it exists: Stability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FORMULA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Reallocate Budget with Marginal Return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Average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Hides saturation
Control: Use marginal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Large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Resets learning
Control: Cap 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Delayed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Leads not matured
Control: Cohort lag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Automated overspend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hard ceiling
Control: Account budget cap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FORMULA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Reallocate Budget with Marginal Return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159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Budget should move toward the lowest marginal CPL within delivery and risk constraints.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EVIDENCE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Creative Fatigue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Frequency and CTR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Fresh cohort baseline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Segment and placement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 creative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Record fatigue pattern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EVIDENCE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Creative Fatigue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4.6
Why it exists: Exposure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ctr_change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-28%
Why it exists: Response decay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comment_tone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negative rising
Why it exists: Qualitative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rotate
Why it exists: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EVIDENCE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Creative Fatigue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False fatigue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Tracking outage
Control: Data health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 depletion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Small pool
Control: Broaden carefully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Unapproved asset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Fast rotation skips review
Control: Preapproved library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Learning 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Old asset deleted
Control: Archive 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EVIDENCE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Creative Fatigue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Declining CTR as frequency rises is a fatigue signal, not proof by itself.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MODEL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Audience Overlap and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Audience definitions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Estimate 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Shared membership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Prioritize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Campaign objective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Exclude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Prevent self-competition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Frequency and auction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MODEL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Audience Overlap and Frequency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audience_a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prospects_sg
Why it exists: Primary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audience_b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site_30d
Why it exists: Retarget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overlap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38%
Why it exists: Conflict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frequency_cap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3/7d
Why it exists: Exposure guard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MODEL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Audience Overlap and Frequency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Self-competition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CPM rises
Control: Mutual exclusions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Negative feedback
Control: Frequency guard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 narrow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Delivery stalls
Control: Minimum 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Proxy targeting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Fairness risk
Control: Feature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MODEL · K7/A4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Control Audience Overlap and Frequency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The 38% pair needs exclusions or a clear prioritization rule.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CONFIG · K8/A4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Content with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Backlog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 content objects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Calendar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Channel and window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Asset, event, approver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Idempotent request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Actual post ID and status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CONFIG · K8/A4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Content with Dependencies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CNT-118
Why it exists: Stable item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publish_at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2026-09-15T10:00+08
Why it exists: Timezone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legal-approved
Why it exists: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pub-118-v2
Why it exists: No duplicates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CONFIG · K8/A4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Schedule Content with Dependencies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Timezone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Publishes eight hours late
Control: Explicit offset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Duplicate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Retry creates copy
Control: Idempotency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Expired creative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Promotion ended
Control: Validity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Queue bypass
Control: Hard dependency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CONFIG · K8/A4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 Content with Dependencies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Education, proof, community, and promotion should reflect the campaign objective.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Platforms with a Feasibility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Audience and outcome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Reach, format, data, cost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Current platform signals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Weighted rubric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Small reversible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Platforms with a Feasibility Matrix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Facebook
Why it exists: 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audience_fit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4/5
Why it exists: Evidence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4/5
Why it exists: Data capability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pilot_budget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500
Why it exists: Reversible 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Platforms with a Feasibility Matrix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Popularity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Largest platform wins
Control: Outcome weighting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Stale demographics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Old report used
Control: As-of 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Apples/oranges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Different KPIs
Control: Common outcome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rollout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pilot
Control: Test 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MODEL · K3/A4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Platforms with a Feasibility Matrix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Platform choice combines fit, measurement, format, cost, and governance—not reach alone.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CONTROL · K2/A4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Rollback and Kill-Switch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Max spend/action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or policy event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Stop further changes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Last approved state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Root cause and sign-off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CONTROL · K2/A4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Rollback and Kill-Switch Rules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max_daily_spend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250
Why it exists: Hard ceiling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kill_trigger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policy_severity=critical
Why it exists: Immediate stop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rollback_version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campaign-v8
Why it exists: Known good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marketing_director
Why it exists: Authority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04 · CONTROL · K2/A4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Define Rollback and Kill-Switch Rules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Soft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Agent overrides
Control: Enforce externally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Cannot restore
Control: Version configuration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Broad 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All campaigns paused
Control: Scope by campaign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Restart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Failure repeats
Control: Human reopen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CONTROL · K2/A4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Rollback and Kill-Switch Rules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179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Spend, CPL, budget-shift, and critical-policy thresholds constrain autonomy.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7: Evaluate an A/B Test and Budget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Determine whether creative B should receive more budget without reacting to an early, unstable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experiment_decision.md and budget_change.json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LO4 · A4 · K7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calculator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labs/lab-07-ab-test-optimizer/README.md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7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Confirm only the creative variable differs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Compute CTR, CVR, CPL and relative lift for both cells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Compare sample size to the precommitted rule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Evaluate business significance and uncertainty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Propose ship, extend or stop with rationale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7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4.88%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5.33%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7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Both cells exceed 500 clicks.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Relative CVR lift is calculated from the control baseline.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Budget change does not exceed 15%.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decision states evidence and uncertainty.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the lift looks huge, verify percentages use the correct denominator.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8: Orchestrate an Approval-Aware Content Calendar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Schedule an eight-item campaign calendar with timezones, dependencies, rights expiry and idempotent publishing requests.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approved_calendar.csv and exception_queue.csv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LO4 · A4 · K4 · K8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calendar template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labs/lab-08-content-calendar-orchestrator/README.md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8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Validate each item status and validity window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Match approved assets to compatible slots and formats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Resolve dependencies before scheduling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Create a deterministic publish request_id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Route blocked items to an exception queue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8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CNT-101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2026-09-15T10:00+08:00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CNT-103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8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Pending CNT-103 is not scheduled.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All timestamps include +08:00.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content is scheduled after valid_to.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Every scheduled row has a unique request_id.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a duplicate appears, check request_id construction.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diagnostic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Artifact and 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or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Failure hypothesis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Bounded response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A recommendation without evidence and a recovery route is incomplete.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evidence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Components and ownership are named.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transitions and decisions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Fields, formulas or thresholds are exact.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Signals, controls and recovery are defined.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 is observable.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bridge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practical artifact uses the same model.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oversight matches risk.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A4 · K7 · K8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TOPIC 05 · A5 · A6 · K9 · K10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88696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Manage Communities with Human Oversight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5F"/>
                </a:solidFill>
                <a:latin typeface="Arial"/>
              </a:rPr>
              <a:t>Legacy coverage retained: Manage Facebook Social Media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40"/>
            <a:ext cx="14630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6600" b="1">
                <a:solidFill>
                  <a:srgbClr val="D7E0EA"/>
                </a:solidFill>
                <a:latin typeface="Arial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Oversight in Community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191</a:t>
            </a:r>
          </a:p>
        </p:txBody>
      </p:sp>
      <p:pic>
        <p:nvPicPr>
          <p:cNvPr id="10" name="Picture 9" descr="human-oversight-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38128"/>
            <a:ext cx="6583680" cy="37052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52360" y="1709928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70992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62672" y="186537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865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19656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1671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AI proposes intent and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788920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788920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94436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898648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2461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Humans inspect sensitive cases.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867912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867912"/>
            <a:ext cx="82296" cy="932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62672" y="40233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40233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977640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Protect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432511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Privacy and brand-safety gates apply.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4946904"/>
            <a:ext cx="404164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4946904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62672" y="5102352"/>
            <a:ext cx="384048" cy="38404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51023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5056632"/>
            <a:ext cx="303580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845B"/>
                </a:solidFill>
                <a:latin typeface="Arial"/>
              </a:rPr>
              <a:t>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5404104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Only reviewed outcomes update practice.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RUNTIME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Route Community Messages by Intent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Comment or message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Intent and sentiment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Urgency and harm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Reply, review, escalate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Outcome and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RUNTIME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Route Community Messages by Intent and Risk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delivery_issue
Why it exists: Work queue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negative
Why it exists: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risk_score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0.82
Why it exists: Escalation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sla_minutes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30
Why it exists: Response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RUNTIME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Route Community Messages by Intent and Risk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Sarcasm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Sentiment misread
Control: Human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Private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Order number public
Control: Move to private channel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Wrong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Crisis treated routine
Control: Severity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closure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Repeated complaint
Control: Case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RUNTIME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Route Community Messages by Intent and Risk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Routine, assisted, escalated, and rejected items need distinct workflows.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MODEL · K10/A5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Sentiment with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Language and spam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Positive, neutral, negative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Confidence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Human-labeled audit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Adjust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Threshold by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MODEL · K10/A5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Sentiment with Confidence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negative
Why it exists: Prediction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0.64
Why it exists: Uncertainty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en-SG
Why it exists: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required
Why it exists: Low-confidence route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MODEL · K10/A5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Evaluate Sentiment with Confidence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Dialect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Singlish misread
Control: Local sample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 masking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Crisis subgroup hidden
Control: Segment 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Confidence misuse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0.51 auto-action
Control: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Feedback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Reviewer label includes PII
Control: Redact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MODEL · K10/A5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Sentiment with Confidence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199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Distribution is a signal; confidence and representative sampling determine trust.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CONTROL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a Moderation Decision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Safe and relevant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Draft reply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Uncertain or sensitive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Threat, legal, safety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Policy breach with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CONTROL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a Moderation Decision Ladder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policy_code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HARASS-02
Why it exists: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high
Why it exists: Priority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evidence_hash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sha256:…
Why it exists: Integrity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escalate
Why it exists: Outcome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CONTROL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a Moderation Decision Ladder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Over-removal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Legitimate criticism hidden
Control: Appeal 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Under-removal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Harm remains
Control: High-risk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Context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Quoted slur punished
Control: Conversation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Decision disputed
Control: Capture snapshot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CONTROL · K9/K10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Apply a Moderation Decision Ladder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Most content remains visible; sensitive decisions need evidence and appeal.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ARTIFACT · K6/K10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UGC Rights and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Candidate UGC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Specific usage permission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Creator, scope, term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Required attribution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Stop when term ends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ARTIFACT · K6/K10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UGC Rights and Permissions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ugc_id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UGC-204
Why it exists: Asset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@sample_creator
Why it exists: Rights holder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Facebook, Instagram
Why it exists: Licensed 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2026-12-31
Why it exists: Term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ARTIFACT · K6/K10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Manage UGC Rights and Permissions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Hashtag assumption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Tag treated as permission
Control: Ask explicitly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 creep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Use in paid ad
Control: Record channels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 credit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Creator omitted
Control: Attribution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Expired 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Asset still scheduled
Control: Calendar 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ARTIFACT · K6/K10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UGC Rights and Permissions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Approved, pending, declined, and expired assets must remain distinguishable.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CASE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Escalate Reputation Risk with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Velocity and severity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Authenticity and scope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Pause unsafe automation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Named spokesperson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Post-incident learning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CASE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Escalate Reputation Risk with Evidence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mentions_15m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84
Why it exists: Velocity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critical
Why it exists: Priority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communications_lead
Why it exists: Authority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next_update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30 min
Why it exists: Cadence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CASE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Escalate Reputation Risk with Evidence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Auto-defence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Agent argues publicly
Control: Pause replies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Slow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Issue compounds
Control: Velocity trigger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Unverified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Rumor repeated
Control: Source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Conflicting updates
Control: Incident 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CASE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Escalate Reputation Risk with Evidence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Acceleration, not just volume, can trigger a crisis escalation.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MODEL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Advocacy Flywheel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Identify valued contributions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Recognize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Credit and respond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Resources and prompts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Amplify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Permissioned UGC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Retention and referrals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MODEL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Advocacy Flywheel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advocate_id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ADV-031
Why it exists: Relationship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tutorial video
Why it exists: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organic repost
Why it exists: 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referrals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7
Why it exists: Outcome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MODEL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Advocacy Flywheel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Transactional reward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Community feels bought
Control: Value exchange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Favoritism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Same voices amplified
Control: Diversity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Consent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Repost without permission
Control: Rights record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Vanity advocacy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Reach only
Control: Retention/referral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MODEL · K9/A5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Advocacy Flywheel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Recognition can progress from contributors to repeat advocates and referrals.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FORMULA · A5/A6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Organisational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Outcome and guardrails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Comparable period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Financial and non-financial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Attribute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uncertainty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Continue, change, stop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FORMULA · A5/A6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Organisational Impact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revenue_lift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18,000
Why it exists: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SGD 7,200
Why it exists: Investment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complaint_rate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1.8%
Why it exists: Guardrail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medium
Why it exists: Evidence strength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FORMULA · A5/A6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Organisational Impact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Single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Sales rise, trust falls
Control: Balanced scorecard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 counterfactual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All lift credited
Control: State limits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Hidden labor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Review time ignored
Control: Full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Short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retention view
Control: Cohort follow-up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FORMULA · A5/A6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Organisational Impact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219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Financial value, cost, satisfaction lift, and complaint rate tell different parts of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GOVERNANCE · K2/K5/A5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Operate an AI Governance and Oversight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case, owner, risk tier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Data, model, platform risk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Approval and limits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Quality, drift, incidents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Archive evidence and access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Each stage must leave an observable artifact or decision trace.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GOVERNANCE · K2/K5/A5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Operate an AI Governance and Oversight Loop — artifact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use_case_id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AI-SMM-01
Why it exists: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risk_tier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medium
Why it exists: Control 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human_owner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marketing_director
Why it exists: 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review_cycle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quarterly
Why it exists: Oversight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TOPIC 05 · GOVERNANCE · K2/K5/A5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an AI Governance and Oversight Loop — failure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Shadow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No registered owner
Control: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Audience changes
Control: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Vendor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Behavior shifts
Control: Change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Zombie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Signal: Retired tool active
Control: Revoke credentials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 is complete only when its trigger, owner, action, evidence and recovery route are explicit.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GOVERNANCE · K2/K5/A5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Operate an AI Governance and Oversight Loop — worked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10469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5468112"/>
            <a:ext cx="1046988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WHAT THE DATA SHOWS · </a:t>
            </a:r>
            <a:r>
              <a:rPr sz="1150" b="0">
                <a:solidFill>
                  <a:srgbClr val="161B26"/>
                </a:solidFill>
                <a:latin typeface="Arial"/>
              </a:rPr>
              <a:t>Registration, risk assessment, control testing, and review completion form an evidence chain.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9: Triage Community Messages with Human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Classify and route a queue of comments while protecting personal data and preserving legitimate criticism.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moderation_queue.csv and response_log.md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LO5 · A5 · K5 · K9 · K10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Spreadsheet editor · policy rubric · optional approved AI assistant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labs/lab-09-community-moderation-agent/README.md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9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Redact personal identifiers before AI-assisted classification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Assign intent, sentiment, severity and confidence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Apply the policy ladder: allow, assist, review, escalate or remove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Draft responses only for low-risk items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Capture evidence and reason codes for sensitive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9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medium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critical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9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Order number in M002 is redacted before processing.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M004 is emergency-escalated and not auto-replied.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M003 remains visible while routed for human review.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Every decision has a reason code.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sarcasm or dialect is uncertain, lower confidence and route to review.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10: Capstone: Operate a Governed Agentic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Integrate planning, creation, measurement, optimization and community controls into one auditable Lumina Living campaign runbook.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campaign_runbook.md, governance_register.csv and executive_review.md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Mapped competence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LO1–LO6 · A1–A6 · K1–K10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Workbench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All prior mock artifacts · spreadsheet editor · text editor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Full detailed procedure, verification, troubleshooting and cleanup: labs/lab-10-capstone-agentic-campaign/README.md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10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mechanism and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Assemble the campaign charter and persona evidence from Labs 1–2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Select approved briefs and campaign configuration from Labs 3–4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Attach the scorecard and anomaly rules from Labs 5–6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Add experiment, budget and calendar controls from Labs 7–8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Add community moderation and crisis escalation from Lab 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The deck shows the decision mechanism; the Learner Guide carries the complete step-by-step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10 · MOCK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evidence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Campaign Owner
Why it exists: Mock artifact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Brand Lead
Why it exists: Mock artifact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Example: Marketing Director
Why it exists: Mock artifact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artifact is inspectable: each field has a value, meaning, owner and decision consequence.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LAB 10 ·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verification and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Every agent action has an owner, input, output and 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All six abilities and ten knowledge criteria are evidenced.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No live credentials or personal data exist in the package.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runbook contains a kill switch, rollback version and incident route.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If verification fails: If an artifact cannot be traced, add its source lab and version.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05 diagnostic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Artifact and source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 or rule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Failure hypothesis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Bounded response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A recommendation without evidence and a recovery route is incomplete.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TOPIC 05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05 evidence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Components and ownership are named.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State transitions and decisions are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Fields, formulas or thresholds are exact.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Signals, controls and recovery are defined.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Acceptance evidence is observable.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Lab bridge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The practical artifact uses the same model.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Human oversight matches risk.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A5 · A6 · K9 · K10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Produce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 charter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Objectives, KPI tree and policy guardrails.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Persona and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Evidence, confidence and next-best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Hierarchy, audiences, creative and approvals.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Metrics, funnel, anomalies and decisions.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39312"/>
            <a:ext cx="82296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7824" y="382219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81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Optimization 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Experiment, budget, schedule and rollback.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01568" y="3639312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21024" y="3822191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Community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Triage, rights, crisis and advocacy.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639312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38221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 register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Owner, risk tier, controls and review.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639312"/>
            <a:ext cx="2487168" cy="178308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3639312"/>
            <a:ext cx="82296" cy="1783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07424" y="3822191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3822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3767328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297680"/>
            <a:ext cx="1993392" cy="10149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Traceable human and agent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Get the learner slides and Learner Guide.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Use the ten lab folders and mock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Sit the WA then PP in the stated time.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Upload completed answers and retain confirmation.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577840"/>
            <a:ext cx="10835640" cy="6217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32704"/>
            <a:ext cx="1033272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1B26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10 open-ended questions · 60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5 practical tasks · 60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Slides, Learner Guide and approved lab materials.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Upload on the LMS before sign-off.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ASSESSMENT ·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29968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0568" y="237744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568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Scan LMS QR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01137" y="3538728"/>
            <a:ext cx="21945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6313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6313" y="2029968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9642" y="23774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9642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4329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3473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Submit record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0211" y="3538728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5387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55387" y="2029968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403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2547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Open book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9284" y="3538728"/>
            <a:ext cx="219456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4460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460" y="2029968"/>
            <a:ext cx="1878177" cy="91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7789" y="2377440"/>
            <a:ext cx="731520" cy="731520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7789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476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1620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Upload answers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8358" y="3538728"/>
            <a:ext cx="21945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3534" y="2029968"/>
            <a:ext cx="1878177" cy="3017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3534" y="2029968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6863" y="2377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6863" y="23774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1550" y="3328416"/>
            <a:ext cx="1622145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0694" y="3968496"/>
            <a:ext cx="1603857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Confirm outcome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21808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321808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1" y="54223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DECISION RULE · </a:t>
            </a:r>
            <a:r>
              <a:rPr sz="1200" b="0">
                <a:solidFill>
                  <a:srgbClr val="161B26"/>
                </a:solidFill>
                <a:latin typeface="Arial"/>
              </a:rPr>
              <a:t>Question papers go to learners; answer keys remain trainer-only.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Complete the separate assessment attendance.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Keep the success confirmation.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Tell the trainer immediately if the flow fails.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91640"/>
            <a:ext cx="2487168" cy="228600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1819656"/>
            <a:ext cx="1572768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993392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05F"/>
                </a:solidFill>
                <a:latin typeface="Arial"/>
              </a:rPr>
              <a:t>Submit only your own attendance.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ic-market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82098"/>
            <a:ext cx="6400800" cy="36023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Build agents that earn trust through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5F"/>
                </a:solidFill>
                <a:latin typeface="Arial"/>
              </a:rPr>
              <a:t>enquiry@tertiaryinfotech.com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5F"/>
                </a:solidFill>
                <a:latin typeface="Arial"/>
              </a:rPr>
              <a:t>+65 6100 0613 · 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502920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Agentic AI for Social Media Marketing · TGS-2020505996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6419088"/>
            <a:ext cx="41148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029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4505F"/>
                </a:solidFill>
                <a:latin typeface="Arial"/>
              </a:rPr>
              <a:t>6</a:t>
            </a:r>
          </a:p>
        </p:txBody>
      </p:sp>
      <p:pic>
        <p:nvPicPr>
          <p:cNvPr id="10" name="Picture 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077" y="1394460"/>
            <a:ext cx="8831541" cy="439369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" y="5870448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